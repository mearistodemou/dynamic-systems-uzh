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1" r:id="rId2"/>
    <p:sldId id="326" r:id="rId3"/>
    <p:sldId id="342" r:id="rId4"/>
    <p:sldId id="334" r:id="rId5"/>
    <p:sldId id="343" r:id="rId6"/>
    <p:sldId id="337" r:id="rId7"/>
    <p:sldId id="338" r:id="rId8"/>
    <p:sldId id="344" r:id="rId9"/>
    <p:sldId id="341" r:id="rId10"/>
    <p:sldId id="345" r:id="rId11"/>
    <p:sldId id="347" r:id="rId12"/>
    <p:sldId id="346" r:id="rId13"/>
    <p:sldId id="353" r:id="rId14"/>
    <p:sldId id="355" r:id="rId15"/>
    <p:sldId id="358" r:id="rId16"/>
    <p:sldId id="359" r:id="rId17"/>
    <p:sldId id="361" r:id="rId18"/>
    <p:sldId id="362" r:id="rId19"/>
    <p:sldId id="336" r:id="rId2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32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custSel delSld modSld">
      <pc:chgData name="Michael Aristodemou" userId="8f856845a52b247d" providerId="LiveId" clId="{C154C21A-E434-4F66-B5AD-9BF8E6CFD023}" dt="2025-11-03T09:20:07.449" v="131" actId="47"/>
      <pc:docMkLst>
        <pc:docMk/>
      </pc:docMkLst>
      <pc:sldChg chg="modSp mod">
        <pc:chgData name="Michael Aristodemou" userId="8f856845a52b247d" providerId="LiveId" clId="{C154C21A-E434-4F66-B5AD-9BF8E6CFD023}" dt="2025-11-03T09:19:59.786" v="130" actId="20577"/>
        <pc:sldMkLst>
          <pc:docMk/>
          <pc:sldMk cId="2870236714" sldId="311"/>
        </pc:sldMkLst>
        <pc:spChg chg="mod">
          <ac:chgData name="Michael Aristodemou" userId="8f856845a52b247d" providerId="LiveId" clId="{C154C21A-E434-4F66-B5AD-9BF8E6CFD023}" dt="2025-11-03T09:19:59.786" v="130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modSp mod">
        <pc:chgData name="Michael Aristodemou" userId="8f856845a52b247d" providerId="LiveId" clId="{C154C21A-E434-4F66-B5AD-9BF8E6CFD023}" dt="2025-10-29T08:41:32.461" v="128" actId="20577"/>
        <pc:sldMkLst>
          <pc:docMk/>
          <pc:sldMk cId="1022481540" sldId="361"/>
        </pc:sldMkLst>
        <pc:spChg chg="mod">
          <ac:chgData name="Michael Aristodemou" userId="8f856845a52b247d" providerId="LiveId" clId="{C154C21A-E434-4F66-B5AD-9BF8E6CFD023}" dt="2025-10-29T08:41:32.461" v="128" actId="20577"/>
          <ac:spMkLst>
            <pc:docMk/>
            <pc:sldMk cId="1022481540" sldId="361"/>
            <ac:spMk id="3" creationId="{D1C682E2-7F22-21FE-0B75-3BF44F71BE48}"/>
          </ac:spMkLst>
        </pc:spChg>
      </pc:sldChg>
      <pc:sldChg chg="del">
        <pc:chgData name="Michael Aristodemou" userId="8f856845a52b247d" providerId="LiveId" clId="{C154C21A-E434-4F66-B5AD-9BF8E6CFD023}" dt="2025-11-03T09:20:07.449" v="131" actId="47"/>
        <pc:sldMkLst>
          <pc:docMk/>
          <pc:sldMk cId="3971653277" sldId="363"/>
        </pc:sldMkLst>
      </pc:sldChg>
    </pc:docChg>
  </pc:docChgLst>
  <pc:docChgLst>
    <pc:chgData name="Michael Aristodemou" userId="8f856845a52b247d" providerId="LiveId" clId="{9B00AFCF-B802-464E-AF44-A44E735D0D35}"/>
    <pc:docChg chg="custSel addSld modSld sldOrd">
      <pc:chgData name="Michael Aristodemou" userId="8f856845a52b247d" providerId="LiveId" clId="{9B00AFCF-B802-464E-AF44-A44E735D0D35}" dt="2025-10-30T10:03:38.157" v="1525" actId="20577"/>
      <pc:docMkLst>
        <pc:docMk/>
      </pc:docMkLst>
      <pc:sldChg chg="add">
        <pc:chgData name="Michael Aristodemou" userId="8f856845a52b247d" providerId="LiveId" clId="{9B00AFCF-B802-464E-AF44-A44E735D0D35}" dt="2025-10-23T13:13:13.902" v="37"/>
        <pc:sldMkLst>
          <pc:docMk/>
          <pc:sldMk cId="4248748569" sldId="336"/>
        </pc:sldMkLst>
      </pc:sldChg>
      <pc:sldChg chg="modSp">
        <pc:chgData name="Michael Aristodemou" userId="8f856845a52b247d" providerId="LiveId" clId="{9B00AFCF-B802-464E-AF44-A44E735D0D35}" dt="2025-10-27T14:35:07.167" v="39" actId="20577"/>
        <pc:sldMkLst>
          <pc:docMk/>
          <pc:sldMk cId="2245208357" sldId="338"/>
        </pc:sldMkLst>
        <pc:spChg chg="mod">
          <ac:chgData name="Michael Aristodemou" userId="8f856845a52b247d" providerId="LiveId" clId="{9B00AFCF-B802-464E-AF44-A44E735D0D35}" dt="2025-10-27T14:35:07.167" v="39" actId="20577"/>
          <ac:spMkLst>
            <pc:docMk/>
            <pc:sldMk cId="2245208357" sldId="338"/>
            <ac:spMk id="16" creationId="{8BB7D0C7-6229-D9E8-4389-476B6631A09A}"/>
          </ac:spMkLst>
        </pc:spChg>
      </pc:sldChg>
      <pc:sldChg chg="modSp">
        <pc:chgData name="Michael Aristodemou" userId="8f856845a52b247d" providerId="LiveId" clId="{9B00AFCF-B802-464E-AF44-A44E735D0D35}" dt="2025-10-27T15:24:23.774" v="1379" actId="20577"/>
        <pc:sldMkLst>
          <pc:docMk/>
          <pc:sldMk cId="1691706548" sldId="344"/>
        </pc:sldMkLst>
        <pc:spChg chg="mod">
          <ac:chgData name="Michael Aristodemou" userId="8f856845a52b247d" providerId="LiveId" clId="{9B00AFCF-B802-464E-AF44-A44E735D0D35}" dt="2025-10-27T15:24:19.776" v="1377" actId="20577"/>
          <ac:spMkLst>
            <pc:docMk/>
            <pc:sldMk cId="1691706548" sldId="344"/>
            <ac:spMk id="5" creationId="{EF81EDDF-F5A4-1D46-3EE3-91DC4B1AA1C0}"/>
          </ac:spMkLst>
        </pc:spChg>
        <pc:spChg chg="mod">
          <ac:chgData name="Michael Aristodemou" userId="8f856845a52b247d" providerId="LiveId" clId="{9B00AFCF-B802-464E-AF44-A44E735D0D35}" dt="2025-10-27T15:24:23.774" v="1379" actId="20577"/>
          <ac:spMkLst>
            <pc:docMk/>
            <pc:sldMk cId="1691706548" sldId="344"/>
            <ac:spMk id="16" creationId="{E1C74933-8A7E-13F3-7E73-8202DB42E277}"/>
          </ac:spMkLst>
        </pc:spChg>
      </pc:sldChg>
      <pc:sldChg chg="modSp mod">
        <pc:chgData name="Michael Aristodemou" userId="8f856845a52b247d" providerId="LiveId" clId="{9B00AFCF-B802-464E-AF44-A44E735D0D35}" dt="2025-10-27T14:36:37.420" v="41" actId="20577"/>
        <pc:sldMkLst>
          <pc:docMk/>
          <pc:sldMk cId="3612116094" sldId="355"/>
        </pc:sldMkLst>
        <pc:spChg chg="mod">
          <ac:chgData name="Michael Aristodemou" userId="8f856845a52b247d" providerId="LiveId" clId="{9B00AFCF-B802-464E-AF44-A44E735D0D35}" dt="2025-10-27T14:36:37.420" v="41" actId="20577"/>
          <ac:spMkLst>
            <pc:docMk/>
            <pc:sldMk cId="3612116094" sldId="355"/>
            <ac:spMk id="3" creationId="{45DCDE66-B599-229B-41A2-70BD28DE8AE9}"/>
          </ac:spMkLst>
        </pc:spChg>
      </pc:sldChg>
      <pc:sldChg chg="modSp new mod">
        <pc:chgData name="Michael Aristodemou" userId="8f856845a52b247d" providerId="LiveId" clId="{9B00AFCF-B802-464E-AF44-A44E735D0D35}" dt="2025-10-30T10:01:35.704" v="1384" actId="20577"/>
        <pc:sldMkLst>
          <pc:docMk/>
          <pc:sldMk cId="1022481540" sldId="361"/>
        </pc:sldMkLst>
        <pc:spChg chg="mod">
          <ac:chgData name="Michael Aristodemou" userId="8f856845a52b247d" providerId="LiveId" clId="{9B00AFCF-B802-464E-AF44-A44E735D0D35}" dt="2025-10-30T10:01:35.704" v="1384" actId="20577"/>
          <ac:spMkLst>
            <pc:docMk/>
            <pc:sldMk cId="1022481540" sldId="361"/>
            <ac:spMk id="2" creationId="{96DAF46C-C515-B379-4696-A2F51041EE23}"/>
          </ac:spMkLst>
        </pc:spChg>
        <pc:spChg chg="mod">
          <ac:chgData name="Michael Aristodemou" userId="8f856845a52b247d" providerId="LiveId" clId="{9B00AFCF-B802-464E-AF44-A44E735D0D35}" dt="2025-10-27T14:51:35.317" v="1030" actId="20577"/>
          <ac:spMkLst>
            <pc:docMk/>
            <pc:sldMk cId="1022481540" sldId="361"/>
            <ac:spMk id="3" creationId="{D1C682E2-7F22-21FE-0B75-3BF44F71BE48}"/>
          </ac:spMkLst>
        </pc:spChg>
      </pc:sldChg>
      <pc:sldChg chg="addSp delSp modSp new mod">
        <pc:chgData name="Michael Aristodemou" userId="8f856845a52b247d" providerId="LiveId" clId="{9B00AFCF-B802-464E-AF44-A44E735D0D35}" dt="2025-10-30T10:03:38.157" v="1525" actId="20577"/>
        <pc:sldMkLst>
          <pc:docMk/>
          <pc:sldMk cId="1073587541" sldId="362"/>
        </pc:sldMkLst>
        <pc:spChg chg="mod">
          <ac:chgData name="Michael Aristodemou" userId="8f856845a52b247d" providerId="LiveId" clId="{9B00AFCF-B802-464E-AF44-A44E735D0D35}" dt="2025-10-27T15:20:55.225" v="1366" actId="207"/>
          <ac:spMkLst>
            <pc:docMk/>
            <pc:sldMk cId="1073587541" sldId="362"/>
            <ac:spMk id="2" creationId="{B847FC74-E431-D514-C2A1-CBB77CFC0B03}"/>
          </ac:spMkLst>
        </pc:spChg>
        <pc:spChg chg="add mod">
          <ac:chgData name="Michael Aristodemou" userId="8f856845a52b247d" providerId="LiveId" clId="{9B00AFCF-B802-464E-AF44-A44E735D0D35}" dt="2025-10-30T10:03:38.157" v="1525" actId="20577"/>
          <ac:spMkLst>
            <pc:docMk/>
            <pc:sldMk cId="1073587541" sldId="362"/>
            <ac:spMk id="10" creationId="{CEC6AB56-18BA-30BB-EC5F-6D8FA77A52B8}"/>
          </ac:spMkLst>
        </pc:spChg>
        <pc:picChg chg="add mod">
          <ac:chgData name="Michael Aristodemou" userId="8f856845a52b247d" providerId="LiveId" clId="{9B00AFCF-B802-464E-AF44-A44E735D0D35}" dt="2025-10-27T15:13:38.193" v="1346" actId="1076"/>
          <ac:picMkLst>
            <pc:docMk/>
            <pc:sldMk cId="1073587541" sldId="362"/>
            <ac:picMk id="7" creationId="{61FC3481-943C-5080-5D14-5C1721D89C43}"/>
          </ac:picMkLst>
        </pc:picChg>
        <pc:picChg chg="add mod">
          <ac:chgData name="Michael Aristodemou" userId="8f856845a52b247d" providerId="LiveId" clId="{9B00AFCF-B802-464E-AF44-A44E735D0D35}" dt="2025-10-27T15:13:38.193" v="1346" actId="1076"/>
          <ac:picMkLst>
            <pc:docMk/>
            <pc:sldMk cId="1073587541" sldId="362"/>
            <ac:picMk id="9" creationId="{4BC90D0F-717A-118C-F24E-B099E8940BD7}"/>
          </ac:picMkLst>
        </pc:picChg>
      </pc:sldChg>
      <pc:sldChg chg="addSp delSp new mod">
        <pc:chgData name="Michael Aristodemou" userId="8f856845a52b247d" providerId="LiveId" clId="{9B00AFCF-B802-464E-AF44-A44E735D0D35}" dt="2025-10-30T10:01:27.934" v="1383" actId="478"/>
        <pc:sldMkLst>
          <pc:docMk/>
          <pc:sldMk cId="3971653277" sldId="363"/>
        </pc:sldMkLst>
        <pc:picChg chg="add">
          <ac:chgData name="Michael Aristodemou" userId="8f856845a52b247d" providerId="LiveId" clId="{9B00AFCF-B802-464E-AF44-A44E735D0D35}" dt="2025-10-30T10:01:23.071" v="1381" actId="22"/>
          <ac:picMkLst>
            <pc:docMk/>
            <pc:sldMk cId="3971653277" sldId="363"/>
            <ac:picMk id="5" creationId="{77705291-74BA-5348-649A-4B3EEAB7AC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C98FF-C090-408E-AF8B-4A18F1871B6F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EA643-C3C0-44DC-9F5A-E604BB20DB5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22468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85B37-D7A5-4C9A-B811-8256C16B8719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07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0CA0-D8B6-E31E-359C-663FC6A35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D34A3-5B75-D621-0A1A-B2BEC4921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8105E-BD19-9579-4DA3-03DD7D81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8545-A2AD-EDB3-3C39-766CB102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B14C1-E8A9-F629-5C99-AF846654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2780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28C1-C230-5357-7F97-C17E3698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C5A5-99DA-B296-F8E3-C77BD38B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A8BAC-5A4A-8D51-4854-AF36FFD7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6696-1A2D-C548-DE05-FB49253D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87FBF-5088-3C76-AD9E-D0CE21B0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73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CC53-163A-4664-5AA9-EEE467DD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687D6-FEFF-FC41-F24D-A12551D14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1F46-A285-A404-DA16-A9AEBAB3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9CA62-BABB-6C42-1036-D7444B0F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BE8C-1C9B-6CF9-B2A7-9876DAB7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884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9D53-2DC7-5A16-9399-DD74F973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71FE-CED2-E007-D530-044E7CFE1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0C25B-E424-7C81-9F80-8AE61009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6A010-38B9-9409-CF6F-7CFBE17F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9244-7E48-98B7-1700-4A8F5897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4FF9-87B0-4973-41F2-BDB0A5E0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0974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47D1-CA71-CD35-E435-98690958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0CF-6B17-94B1-4DDA-62809D92F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DFE42-6F5F-BEE5-BAE7-98E8DA01F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B8A09-71DA-AE3C-12C6-565E6CC36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09A08-A2F8-0DA5-6710-070C77B19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01BF3-AB85-E537-86E5-7C65CA04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BC0F6-55DE-38B2-2957-871ECFF9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E8A0D-3EFB-D31D-FE9F-9CB16466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682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704F-F6B2-3435-6A6D-0C462900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4F5CA-4381-A67A-73A3-059972699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A6BDE-828A-39D0-965E-0B8FFF6D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D23B1-044E-8515-D743-CB5D5868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795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37C41-0326-7980-74EF-4FD245D6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0B21E-5E2B-278F-6895-F1DA871A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E3736-CA5A-D959-496F-97950CBB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737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A069-5334-B8FF-94AD-DFF2FE9D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0D85-E4D4-6A00-1D1A-ADCE6A867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80E4E-DD2F-3887-FC91-AF3DBFC77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2BEEE-E11B-29DC-D62B-8438A751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893E2-E5A1-DCF6-2697-605D50B4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5A38-E956-A785-E78B-A4D920F8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3067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4E82-9F6F-B2B0-C824-9F7B8847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DF31D-C67F-22BD-6129-F553653CB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881AC-F898-F419-DBF8-470663EC8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2805E-EB0E-9487-0F24-DDA33604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F82BD-8A2F-2F7F-0FB3-95839EC6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2D4B3-0CD6-3B90-84F8-A88D6AF3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424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4501-623C-EB06-59DC-C511892B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492C2-755A-04BB-E623-F953539F5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613B5-07ED-4833-9BAE-A01E0709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21A8E-8097-BF5A-BDB6-0622D125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6E584-28E2-0546-3794-95BFF3D7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4579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0EC34-8F98-F537-5E94-0B8D469CD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F329D-5F4C-D3D2-93DF-DB3641A09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836C5-BC6D-A62F-23F4-268E3B11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B958F-E755-F0AA-F3A8-47405C80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35F7-2147-3A6F-F64C-16DD4BD1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659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39638-49DF-ABE7-478C-17E78A1D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D3BAA-E722-5FF1-C01D-1EF86C42A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CBC9D-954A-192C-D74F-D6E030EB9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6B287-7570-4255-9297-326D3AB3A8C3}" type="datetimeFigureOut">
              <a:rPr lang="en-CH" smtClean="0"/>
              <a:t>11/03/2025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C31C3-5B8F-BE23-E7C0-9C77D8D73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8A41A-4127-47F9-42E3-AD507352A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9276B-8168-4998-B4B2-7D570EEA61E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180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70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7</a:t>
            </a:r>
            <a:r>
              <a:rPr lang="en-US" dirty="0">
                <a:solidFill>
                  <a:srgbClr val="FF0000"/>
                </a:solidFill>
              </a:rPr>
              <a:t>: Time-Independent Predictors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99AE-5F9D-9F13-3035-7225C205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If we choose the wrong model, what difference does it make?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25476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4A8-CC17-58FC-92C2-9887E84B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Albert and the Rabbit to the lab</a:t>
            </a:r>
            <a:endParaRPr lang="en-CH" dirty="0"/>
          </a:p>
        </p:txBody>
      </p:sp>
      <p:pic>
        <p:nvPicPr>
          <p:cNvPr id="5" name="Graphic 4" descr="Man outline">
            <a:extLst>
              <a:ext uri="{FF2B5EF4-FFF2-40B4-BE49-F238E27FC236}">
                <a16:creationId xmlns:a16="http://schemas.microsoft.com/office/drawing/2014/main" id="{96B37665-601D-F1FD-40E4-0459B6967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5881" y="2432121"/>
            <a:ext cx="1388165" cy="1388165"/>
          </a:xfrm>
          <a:prstGeom prst="rect">
            <a:avLst/>
          </a:prstGeom>
        </p:spPr>
      </p:pic>
      <p:pic>
        <p:nvPicPr>
          <p:cNvPr id="7" name="Graphic 6" descr="Rabbit outline">
            <a:extLst>
              <a:ext uri="{FF2B5EF4-FFF2-40B4-BE49-F238E27FC236}">
                <a16:creationId xmlns:a16="http://schemas.microsoft.com/office/drawing/2014/main" id="{3A6C7C93-A446-36C7-965F-3EBB81897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493" y="4240351"/>
            <a:ext cx="1156251" cy="1156251"/>
          </a:xfrm>
          <a:prstGeom prst="rect">
            <a:avLst/>
          </a:prstGeom>
        </p:spPr>
      </p:pic>
      <p:pic>
        <p:nvPicPr>
          <p:cNvPr id="2052" name="Picture 4" descr="Bolt, electric, lightning, power ...">
            <a:extLst>
              <a:ext uri="{FF2B5EF4-FFF2-40B4-BE49-F238E27FC236}">
                <a16:creationId xmlns:a16="http://schemas.microsoft.com/office/drawing/2014/main" id="{8027495F-8217-A018-8464-687365C0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42" y="1800436"/>
            <a:ext cx="1156251" cy="115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 descr="Hourglass Finished outline">
            <a:extLst>
              <a:ext uri="{FF2B5EF4-FFF2-40B4-BE49-F238E27FC236}">
                <a16:creationId xmlns:a16="http://schemas.microsoft.com/office/drawing/2014/main" id="{0E7551B2-5E4D-0936-FF1C-7DDFBF0001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7761" y="3191912"/>
            <a:ext cx="1256748" cy="125674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D8F9866-1ED5-1860-6E28-026ACE2DA810}"/>
              </a:ext>
            </a:extLst>
          </p:cNvPr>
          <p:cNvSpPr/>
          <p:nvPr/>
        </p:nvSpPr>
        <p:spPr>
          <a:xfrm>
            <a:off x="1676402" y="1800436"/>
            <a:ext cx="4147931" cy="3738975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1" name="Graphic 20" descr="Computer with solid fill">
            <a:extLst>
              <a:ext uri="{FF2B5EF4-FFF2-40B4-BE49-F238E27FC236}">
                <a16:creationId xmlns:a16="http://schemas.microsoft.com/office/drawing/2014/main" id="{BCDC45E8-1830-41B0-BBC2-6E273DF8DF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8650" y="3106946"/>
            <a:ext cx="3180522" cy="3180522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91F9666-6AD2-32BE-80FA-9891220C97C0}"/>
              </a:ext>
            </a:extLst>
          </p:cNvPr>
          <p:cNvCxnSpPr>
            <a:cxnSpLocks/>
            <a:stCxn id="21" idx="1"/>
            <a:endCxn id="19" idx="2"/>
          </p:cNvCxnSpPr>
          <p:nvPr/>
        </p:nvCxnSpPr>
        <p:spPr>
          <a:xfrm rot="10800000" flipV="1">
            <a:off x="3750368" y="4697207"/>
            <a:ext cx="2548282" cy="842204"/>
          </a:xfrm>
          <a:prstGeom prst="bentConnector4">
            <a:avLst>
              <a:gd name="adj1" fmla="val 9307"/>
              <a:gd name="adj2" fmla="val 215964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04A9BF-28BE-8661-7466-B66188998D3C}"/>
                  </a:ext>
                </a:extLst>
              </p:cNvPr>
              <p:cNvSpPr txBox="1"/>
              <p:nvPr/>
            </p:nvSpPr>
            <p:spPr>
              <a:xfrm>
                <a:off x="6096002" y="2610919"/>
                <a:ext cx="5247311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H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CH" sz="20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−.2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.1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.1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−.2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CH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04A9BF-28BE-8661-7466-B6618899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2" y="2610919"/>
                <a:ext cx="5247311" cy="6915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03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4DFE-E82D-1003-E539-FECC3BFD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6" y="494899"/>
            <a:ext cx="2905539" cy="1625449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do a small experiment</a:t>
            </a:r>
            <a:endParaRPr lang="en-CH" dirty="0"/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D7CB04D-2CA1-41B8-448C-137521837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621" y="393568"/>
            <a:ext cx="8499206" cy="6070863"/>
          </a:xfrm>
        </p:spPr>
      </p:pic>
    </p:spTree>
    <p:extLst>
      <p:ext uri="{BB962C8B-B14F-4D97-AF65-F5344CB8AC3E}">
        <p14:creationId xmlns:p14="http://schemas.microsoft.com/office/powerpoint/2010/main" val="2105095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E310-4B46-6102-C348-1B847BFA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ED6F-D7F7-B3E5-8CF7-9AB47C62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6" y="494899"/>
            <a:ext cx="2905539" cy="1625449"/>
          </a:xfrm>
        </p:spPr>
        <p:txBody>
          <a:bodyPr>
            <a:normAutofit/>
          </a:bodyPr>
          <a:lstStyle/>
          <a:p>
            <a:r>
              <a:rPr lang="en-US" dirty="0"/>
              <a:t>Let’s observe</a:t>
            </a:r>
            <a:endParaRPr lang="en-CH" dirty="0"/>
          </a:p>
        </p:txBody>
      </p:sp>
      <p:pic>
        <p:nvPicPr>
          <p:cNvPr id="4" name="Picture 3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2037E7B2-793C-D27E-9B86-F21585F1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304" y="185530"/>
            <a:ext cx="9081715" cy="648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9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BE1DE2D-01F1-4014-953B-484B654C3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695" y="1690688"/>
            <a:ext cx="7139609" cy="50997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DC402F-6A15-1519-C07B-B983FAA8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model: but with more people</a:t>
            </a:r>
            <a:endParaRPr lang="en-CH" dirty="0"/>
          </a:p>
        </p:txBody>
      </p:sp>
      <p:pic>
        <p:nvPicPr>
          <p:cNvPr id="4" name="Content Placeholder 3" descr="A graph with red lines&#10;&#10;AI-generated content may be incorrect.">
            <a:extLst>
              <a:ext uri="{FF2B5EF4-FFF2-40B4-BE49-F238E27FC236}">
                <a16:creationId xmlns:a16="http://schemas.microsoft.com/office/drawing/2014/main" id="{9357993C-4E68-EC86-ECC8-3E0F4202D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470" y="3783757"/>
            <a:ext cx="3364483" cy="24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0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6AD0-3FCD-8292-40F0-97C9619B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3299"/>
            <a:ext cx="10515600" cy="1325563"/>
          </a:xfrm>
        </p:spPr>
        <p:txBody>
          <a:bodyPr/>
          <a:lstStyle/>
          <a:p>
            <a:r>
              <a:rPr lang="en-US" dirty="0"/>
              <a:t>So far, we assumed everyone has the same dynamics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BF0BC-157B-23D5-AF26-FBCC179F3DD0}"/>
                  </a:ext>
                </a:extLst>
              </p:cNvPr>
              <p:cNvSpPr txBox="1"/>
              <p:nvPr/>
            </p:nvSpPr>
            <p:spPr>
              <a:xfrm>
                <a:off x="2181003" y="3817656"/>
                <a:ext cx="1778564" cy="1189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LID4096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BF0BC-157B-23D5-AF26-FBCC179F3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3817656"/>
                <a:ext cx="1778564" cy="1189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85AC8E-A553-1653-3C20-DE680BD32A2D}"/>
                  </a:ext>
                </a:extLst>
              </p:cNvPr>
              <p:cNvSpPr txBox="1"/>
              <p:nvPr/>
            </p:nvSpPr>
            <p:spPr>
              <a:xfrm>
                <a:off x="2181003" y="5656055"/>
                <a:ext cx="25113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85AC8E-A553-1653-3C20-DE680BD32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5656055"/>
                <a:ext cx="2511392" cy="369332"/>
              </a:xfrm>
              <a:prstGeom prst="rect">
                <a:avLst/>
              </a:prstGeom>
              <a:blipFill>
                <a:blip r:embed="rId3"/>
                <a:stretch>
                  <a:fillRect l="-2670" t="-1667" r="-4126" b="-3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69F385-2E1D-03BA-A65F-102510FA36EA}"/>
                  </a:ext>
                </a:extLst>
              </p:cNvPr>
              <p:cNvSpPr txBox="1"/>
              <p:nvPr/>
            </p:nvSpPr>
            <p:spPr>
              <a:xfrm>
                <a:off x="1207818" y="2626260"/>
                <a:ext cx="977636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69F385-2E1D-03BA-A65F-102510FA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2626260"/>
                <a:ext cx="977636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A3BAF4-8870-74DB-D6AD-76D2E1C3D373}"/>
                  </a:ext>
                </a:extLst>
              </p:cNvPr>
              <p:cNvSpPr txBox="1"/>
              <p:nvPr/>
            </p:nvSpPr>
            <p:spPr>
              <a:xfrm>
                <a:off x="5124849" y="4376256"/>
                <a:ext cx="4999810" cy="14425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mr>
                      </m:m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A3BAF4-8870-74DB-D6AD-76D2E1C3D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849" y="4376256"/>
                <a:ext cx="4999810" cy="1442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F04D6016-39F7-A5E1-84B7-CE5757E62BAB}"/>
              </a:ext>
            </a:extLst>
          </p:cNvPr>
          <p:cNvSpPr/>
          <p:nvPr/>
        </p:nvSpPr>
        <p:spPr>
          <a:xfrm>
            <a:off x="6722164" y="4329690"/>
            <a:ext cx="3452192" cy="159026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B7D0C7-6229-D9E8-4389-476B6631A09A}"/>
                  </a:ext>
                </a:extLst>
              </p:cNvPr>
              <p:cNvSpPr txBox="1"/>
              <p:nvPr/>
            </p:nvSpPr>
            <p:spPr>
              <a:xfrm>
                <a:off x="2181003" y="5146711"/>
                <a:ext cx="2514278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LID4096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B7D0C7-6229-D9E8-4389-476B6631A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5146711"/>
                <a:ext cx="2514278" cy="385555"/>
              </a:xfrm>
              <a:prstGeom prst="rect">
                <a:avLst/>
              </a:prstGeom>
              <a:blipFill>
                <a:blip r:embed="rId6"/>
                <a:stretch>
                  <a:fillRect l="-7524" t="-25000" r="-1699" b="-4062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208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02C8-42C4-00FA-A92F-C0C1313F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81C0-1C47-2A70-1798-5662C096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3299"/>
            <a:ext cx="10515600" cy="1325563"/>
          </a:xfrm>
        </p:spPr>
        <p:txBody>
          <a:bodyPr/>
          <a:lstStyle/>
          <a:p>
            <a:r>
              <a:rPr lang="en-US" dirty="0"/>
              <a:t>So far, we assumed everyone has the </a:t>
            </a:r>
            <a:r>
              <a:rPr lang="en-US" dirty="0">
                <a:solidFill>
                  <a:srgbClr val="C00000"/>
                </a:solidFill>
              </a:rPr>
              <a:t>same</a:t>
            </a:r>
            <a:r>
              <a:rPr lang="en-US" dirty="0"/>
              <a:t> dynamics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81EDDF-F5A4-1D46-3EE3-91DC4B1AA1C0}"/>
                  </a:ext>
                </a:extLst>
              </p:cNvPr>
              <p:cNvSpPr txBox="1"/>
              <p:nvPr/>
            </p:nvSpPr>
            <p:spPr>
              <a:xfrm>
                <a:off x="2181003" y="3817656"/>
                <a:ext cx="1778564" cy="1189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LID4096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81EDDF-F5A4-1D46-3EE3-91DC4B1AA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3817656"/>
                <a:ext cx="1778564" cy="1189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8D4559-6AF3-C96C-F4E6-BF97F87A1FF3}"/>
                  </a:ext>
                </a:extLst>
              </p:cNvPr>
              <p:cNvSpPr txBox="1"/>
              <p:nvPr/>
            </p:nvSpPr>
            <p:spPr>
              <a:xfrm>
                <a:off x="2181003" y="5656055"/>
                <a:ext cx="25113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8D4559-6AF3-C96C-F4E6-BF97F87A1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5656055"/>
                <a:ext cx="2511392" cy="369332"/>
              </a:xfrm>
              <a:prstGeom prst="rect">
                <a:avLst/>
              </a:prstGeom>
              <a:blipFill>
                <a:blip r:embed="rId3"/>
                <a:stretch>
                  <a:fillRect l="-2670" t="-1667" r="-4126" b="-3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407B-D0ED-017F-A6BC-7C2FADF4B804}"/>
                  </a:ext>
                </a:extLst>
              </p:cNvPr>
              <p:cNvSpPr txBox="1"/>
              <p:nvPr/>
            </p:nvSpPr>
            <p:spPr>
              <a:xfrm>
                <a:off x="1207818" y="2626260"/>
                <a:ext cx="977636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407B-D0ED-017F-A6BC-7C2FADF4B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2626260"/>
                <a:ext cx="977636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84233-9DF7-3DC0-A308-3A550B036894}"/>
                  </a:ext>
                </a:extLst>
              </p:cNvPr>
              <p:cNvSpPr txBox="1"/>
              <p:nvPr/>
            </p:nvSpPr>
            <p:spPr>
              <a:xfrm>
                <a:off x="5124849" y="4376256"/>
                <a:ext cx="4999810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𝑏𝑒𝑡𝑤𝑒𝑒𝑛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84233-9DF7-3DC0-A308-3A550B036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849" y="4376256"/>
                <a:ext cx="4999810" cy="976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590E07A0-48F9-9AA5-C67E-1BDB0EAD8D2D}"/>
              </a:ext>
            </a:extLst>
          </p:cNvPr>
          <p:cNvSpPr/>
          <p:nvPr/>
        </p:nvSpPr>
        <p:spPr>
          <a:xfrm>
            <a:off x="7765774" y="4302773"/>
            <a:ext cx="1272210" cy="112358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C74933-8A7E-13F3-7E73-8202DB42E277}"/>
                  </a:ext>
                </a:extLst>
              </p:cNvPr>
              <p:cNvSpPr txBox="1"/>
              <p:nvPr/>
            </p:nvSpPr>
            <p:spPr>
              <a:xfrm>
                <a:off x="2181003" y="5146711"/>
                <a:ext cx="2514278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LID4096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C74933-8A7E-13F3-7E73-8202DB42E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003" y="5146711"/>
                <a:ext cx="2514278" cy="385555"/>
              </a:xfrm>
              <a:prstGeom prst="rect">
                <a:avLst/>
              </a:prstGeom>
              <a:blipFill>
                <a:blip r:embed="rId6"/>
                <a:stretch>
                  <a:fillRect l="-7524" t="-25000" r="-1699" b="-4062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70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58AF-99E3-D270-7F4C-F503529D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allow subjects to vary in all, or some, dynamics</a:t>
            </a:r>
            <a:endParaRPr lang="en-CH" dirty="0"/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F77345F-48C1-4147-5CD4-7589FB6CB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632" y="1690688"/>
            <a:ext cx="7160736" cy="51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5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F883-F221-F69A-516B-AB125BCD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Where do these individual differences come from?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85015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D28D-0134-7380-F291-F8AD6255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Let’s add more information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4280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59D7-31C8-E095-EDC3-8BE3D324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observed sources of individual differences</a:t>
            </a:r>
            <a:endParaRPr lang="en-CH" dirty="0"/>
          </a:p>
        </p:txBody>
      </p:sp>
      <p:pic>
        <p:nvPicPr>
          <p:cNvPr id="4" name="Graphic 3" descr="Two Men with solid fill">
            <a:extLst>
              <a:ext uri="{FF2B5EF4-FFF2-40B4-BE49-F238E27FC236}">
                <a16:creationId xmlns:a16="http://schemas.microsoft.com/office/drawing/2014/main" id="{1624AC0F-360B-18A3-E173-3031B8AFB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9642" y="3046793"/>
            <a:ext cx="1728164" cy="1728164"/>
          </a:xfrm>
          <a:prstGeom prst="rect">
            <a:avLst/>
          </a:prstGeom>
        </p:spPr>
      </p:pic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3C5370DF-9E9F-A616-DE22-FC4B405BF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9844" y="3334125"/>
            <a:ext cx="1440832" cy="1440832"/>
          </a:xfrm>
          <a:prstGeom prst="rect">
            <a:avLst/>
          </a:prstGeom>
        </p:spPr>
      </p:pic>
      <p:pic>
        <p:nvPicPr>
          <p:cNvPr id="9" name="Graphic 8" descr="Baby crawling with solid fill">
            <a:extLst>
              <a:ext uri="{FF2B5EF4-FFF2-40B4-BE49-F238E27FC236}">
                <a16:creationId xmlns:a16="http://schemas.microsoft.com/office/drawing/2014/main" id="{84FEB39E-0CCA-2C35-16A0-4FA9EEC46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584" y="3334125"/>
            <a:ext cx="1440832" cy="14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3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E9A1-CE17-4D61-B472-BCE0514D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Time-Independent Predictors</a:t>
            </a:r>
            <a:endParaRPr lang="en-CH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8AF6-987F-EEAD-CB36-C65E208E3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502"/>
            <a:ext cx="11068879" cy="877819"/>
          </a:xfrm>
        </p:spPr>
        <p:txBody>
          <a:bodyPr>
            <a:normAutofit/>
          </a:bodyPr>
          <a:lstStyle/>
          <a:p>
            <a:r>
              <a:rPr lang="en-US" dirty="0"/>
              <a:t>Add a constant, person-specific*, value to the coefficient of a parameter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30C7F7-7EE8-6157-2191-4EC4941EF5E4}"/>
                  </a:ext>
                </a:extLst>
              </p:cNvPr>
              <p:cNvSpPr txBox="1"/>
              <p:nvPr/>
            </p:nvSpPr>
            <p:spPr>
              <a:xfrm>
                <a:off x="1207818" y="3765947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𝑇𝐼𝑃𝑅𝐸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30C7F7-7EE8-6157-2191-4EC4941E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3765947"/>
                <a:ext cx="9776364" cy="607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09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21EF-5233-6E15-5ED0-673F17B1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more time together leads to stronger coupling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CDE66-B599-229B-41A2-70BD28DE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5488"/>
            <a:ext cx="10515600" cy="24969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 to </a:t>
            </a:r>
            <a:r>
              <a:rPr lang="en-US" dirty="0">
                <a:solidFill>
                  <a:srgbClr val="00B0F0"/>
                </a:solidFill>
              </a:rPr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Lecture7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TI_couple_W7.R</a:t>
            </a:r>
          </a:p>
          <a:p>
            <a:r>
              <a:rPr lang="en-US" dirty="0">
                <a:sym typeface="Wingdings" panose="05000000000000000000" pitchFamily="2" charset="2"/>
              </a:rPr>
              <a:t>Find out how the moderation is implemented in the R code</a:t>
            </a:r>
          </a:p>
          <a:p>
            <a:r>
              <a:rPr lang="en-US" dirty="0">
                <a:sym typeface="Wingdings" panose="05000000000000000000" pitchFamily="2" charset="2"/>
              </a:rPr>
              <a:t>Increase the tendency of couples to achieve a similar affect by the end of therapy</a:t>
            </a:r>
          </a:p>
          <a:p>
            <a:r>
              <a:rPr lang="en-US" dirty="0">
                <a:sym typeface="Wingdings" panose="05000000000000000000" pitchFamily="2" charset="2"/>
              </a:rPr>
              <a:t>Add therapist quality as a continuous time-independent moderator of B1 and B2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1211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F29D-52AD-430E-F2FB-25D29FDF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fit a model in </a:t>
            </a:r>
            <a:r>
              <a:rPr lang="en-US" dirty="0" err="1"/>
              <a:t>ctsem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A0780-B23B-3E9D-C7DE-8ABF3AD00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913" y="1790079"/>
            <a:ext cx="8916173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8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0AE5-1F32-CADF-4FF5-968240A4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the moderation</a:t>
            </a:r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0E41B0-064F-31B0-58E1-6D47B1A8E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8" y="1690688"/>
            <a:ext cx="10628243" cy="486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31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F46C-C515-B379-4696-A2F51041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(~20 minutes)</a:t>
            </a:r>
            <a:endParaRPr lang="en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82E2-7F22-21FE-0B75-3BF44F71B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Part 1: Formalize your process</a:t>
            </a:r>
          </a:p>
          <a:p>
            <a:r>
              <a:rPr lang="en-US" dirty="0"/>
              <a:t>Form your groups</a:t>
            </a:r>
            <a:endParaRPr lang="en-GB" dirty="0"/>
          </a:p>
          <a:p>
            <a:r>
              <a:rPr lang="en-GB" dirty="0"/>
              <a:t>Make a boxes and arrows sketch of the system of variables you think affects your psychological process of interest</a:t>
            </a:r>
          </a:p>
          <a:p>
            <a:r>
              <a:rPr lang="en-GB" dirty="0"/>
              <a:t>Write the equation that determines the rate of change in your process (</a:t>
            </a:r>
            <a:r>
              <a:rPr lang="en-GB" i="1" dirty="0"/>
              <a:t>if you are not sure about the exact equation, use words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Guiding questions:</a:t>
            </a:r>
          </a:p>
          <a:p>
            <a:r>
              <a:rPr lang="en-US" dirty="0"/>
              <a:t>Why are you creating a model of this process(es)?</a:t>
            </a:r>
          </a:p>
          <a:p>
            <a:r>
              <a:rPr lang="en-US" dirty="0"/>
              <a:t>Which factors affect your process?</a:t>
            </a:r>
          </a:p>
          <a:p>
            <a:r>
              <a:rPr lang="en-US" dirty="0"/>
              <a:t>Which factors are relevant to consider for you aim?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81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FC74-E431-D514-C2A1-CBB77CFC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discuss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(rest of the time)</a:t>
            </a:r>
            <a:endParaRPr lang="en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Graphic 6" descr="Boardroom with solid fill">
            <a:extLst>
              <a:ext uri="{FF2B5EF4-FFF2-40B4-BE49-F238E27FC236}">
                <a16:creationId xmlns:a16="http://schemas.microsoft.com/office/drawing/2014/main" id="{61FC3481-943C-5080-5D14-5C1721D8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4765" y="3650251"/>
            <a:ext cx="2796209" cy="2796209"/>
          </a:xfrm>
          <a:prstGeom prst="rect">
            <a:avLst/>
          </a:prstGeom>
        </p:spPr>
      </p:pic>
      <p:pic>
        <p:nvPicPr>
          <p:cNvPr id="9" name="Graphic 8" descr="Speech outline">
            <a:extLst>
              <a:ext uri="{FF2B5EF4-FFF2-40B4-BE49-F238E27FC236}">
                <a16:creationId xmlns:a16="http://schemas.microsoft.com/office/drawing/2014/main" id="{4BC90D0F-717A-118C-F24E-B099E8940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3722" y="355748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C6AB56-18BA-30BB-EC5F-6D8FA77A52B8}"/>
              </a:ext>
            </a:extLst>
          </p:cNvPr>
          <p:cNvSpPr txBox="1"/>
          <p:nvPr/>
        </p:nvSpPr>
        <p:spPr>
          <a:xfrm>
            <a:off x="921026" y="1987826"/>
            <a:ext cx="9110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Interview the other group about their model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Try to understand what they are doing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Find out how you could use their model if you were a practitioner, scientist, or just a curious human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Offer suggestions if you have them (but first ask </a:t>
            </a:r>
            <a:r>
              <a:rPr lang="en-US" sz="2400"/>
              <a:t>questions!)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358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00EA-BBB1-D2EC-03D5-A0035783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4874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429</Words>
  <Application>Microsoft Office PowerPoint</Application>
  <PresentationFormat>Widescreen</PresentationFormat>
  <Paragraphs>53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If we choose the wrong model, what difference does it make?</vt:lpstr>
      <vt:lpstr>Let’s take Albert and the Rabbit to the lab</vt:lpstr>
      <vt:lpstr>Let’s do a small experiment</vt:lpstr>
      <vt:lpstr>Let’s observe</vt:lpstr>
      <vt:lpstr>Back to our model: but with more people</vt:lpstr>
      <vt:lpstr>So far, we assumed everyone has the same dynamics</vt:lpstr>
      <vt:lpstr>So far, we assumed everyone has the same dynamics</vt:lpstr>
      <vt:lpstr>We can allow subjects to vary in all, or some, dynamics</vt:lpstr>
      <vt:lpstr>Where do these individual differences come from?</vt:lpstr>
      <vt:lpstr>Let’s add more information</vt:lpstr>
      <vt:lpstr>Adding observed sources of individual differences</vt:lpstr>
      <vt:lpstr>Time-Independent Predictors</vt:lpstr>
      <vt:lpstr>Spending more time together leads to stronger coupling</vt:lpstr>
      <vt:lpstr>How to fit a model in ctsem</vt:lpstr>
      <vt:lpstr>Seeing the moderation</vt:lpstr>
      <vt:lpstr>Group exercise (~20 minutes)</vt:lpstr>
      <vt:lpstr>Let’s discuss (rest of the time)</vt:lpstr>
      <vt:lpstr>Thank you for listening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1</cp:revision>
  <dcterms:created xsi:type="dcterms:W3CDTF">2025-10-23T13:04:55Z</dcterms:created>
  <dcterms:modified xsi:type="dcterms:W3CDTF">2025-11-03T09:20:17Z</dcterms:modified>
</cp:coreProperties>
</file>